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9061252bb04db1" /><Relationship Type="http://schemas.openxmlformats.org/officeDocument/2006/relationships/extended-properties" Target="/docProps/app.xml" Id="Ree64129a641d4aa4" /><Relationship Type="http://schemas.openxmlformats.org/officeDocument/2006/relationships/officeDocument" Target="/ppt/presentation.xml" Id="Re87e205108ba48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f4289a5eb34331"/>
  </p:sldMasterIdLst>
  <p:notesMasterIdLst>
    <p:notesMasterId xmlns:r="http://schemas.openxmlformats.org/officeDocument/2006/relationships" r:id="Rbc7f2ed8fe364422"/>
  </p:notesMasterIdLst>
  <p:sldIdLst>
    <p:sldId xmlns:r="http://schemas.openxmlformats.org/officeDocument/2006/relationships" id="256" r:id="R009e583070124769"/>
    <p:sldId xmlns:r="http://schemas.openxmlformats.org/officeDocument/2006/relationships" id="257" r:id="R87ca9de8ef4b4f56"/>
    <p:sldId xmlns:r="http://schemas.openxmlformats.org/officeDocument/2006/relationships" id="258" r:id="Re61987f7dd5b458f"/>
    <p:sldId xmlns:r="http://schemas.openxmlformats.org/officeDocument/2006/relationships" id="259" r:id="R867ecc292cd94d80"/>
    <p:sldId xmlns:r="http://schemas.openxmlformats.org/officeDocument/2006/relationships" id="260" r:id="R52bb597c1b2944a2"/>
    <p:sldId xmlns:r="http://schemas.openxmlformats.org/officeDocument/2006/relationships" id="261" r:id="R6b061c4220d84773"/>
    <p:sldId xmlns:r="http://schemas.openxmlformats.org/officeDocument/2006/relationships" id="262" r:id="Ree6317dcf186418d"/>
    <p:sldId xmlns:r="http://schemas.openxmlformats.org/officeDocument/2006/relationships" id="263" r:id="Ra06aad6646304c2e"/>
    <p:sldId xmlns:r="http://schemas.openxmlformats.org/officeDocument/2006/relationships" id="264" r:id="R637246532c2446db"/>
    <p:sldId xmlns:r="http://schemas.openxmlformats.org/officeDocument/2006/relationships" id="265" r:id="R9cf3be9dae674f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fbd0cf605e4132" /><Relationship Type="http://schemas.openxmlformats.org/officeDocument/2006/relationships/slideMaster" Target="/ppt/slideMasters/slideMaster1.xml" Id="R0af4289a5eb34331" /><Relationship Type="http://schemas.openxmlformats.org/officeDocument/2006/relationships/notesMaster" Target="/ppt/notesMasters/notesMaster1.xml" Id="Rbc7f2ed8fe364422" /><Relationship Type="http://schemas.openxmlformats.org/officeDocument/2006/relationships/presProps" Target="/ppt/presProps.xml" Id="Rbea844932ec0410f" /><Relationship Type="http://schemas.openxmlformats.org/officeDocument/2006/relationships/tableStyles" Target="/ppt/tableStyles.xml" Id="Re024c553630e4109" /><Relationship Type="http://schemas.openxmlformats.org/officeDocument/2006/relationships/slide" Target="/ppt/slides/slide1.xml" Id="R009e583070124769" /><Relationship Type="http://schemas.openxmlformats.org/officeDocument/2006/relationships/slide" Target="/ppt/slides/slide2.xml" Id="R87ca9de8ef4b4f56" /><Relationship Type="http://schemas.openxmlformats.org/officeDocument/2006/relationships/slide" Target="/ppt/slides/slide3.xml" Id="Re61987f7dd5b458f" /><Relationship Type="http://schemas.openxmlformats.org/officeDocument/2006/relationships/slide" Target="/ppt/slides/slide4.xml" Id="R867ecc292cd94d80" /><Relationship Type="http://schemas.openxmlformats.org/officeDocument/2006/relationships/slide" Target="/ppt/slides/slide5.xml" Id="R52bb597c1b2944a2" /><Relationship Type="http://schemas.openxmlformats.org/officeDocument/2006/relationships/slide" Target="/ppt/slides/slide6.xml" Id="R6b061c4220d84773" /><Relationship Type="http://schemas.openxmlformats.org/officeDocument/2006/relationships/slide" Target="/ppt/slides/slide7.xml" Id="Ree6317dcf186418d" /><Relationship Type="http://schemas.openxmlformats.org/officeDocument/2006/relationships/slide" Target="/ppt/slides/slide8.xml" Id="Ra06aad6646304c2e" /><Relationship Type="http://schemas.openxmlformats.org/officeDocument/2006/relationships/slide" Target="/ppt/slides/slide9.xml" Id="R637246532c2446db" /><Relationship Type="http://schemas.openxmlformats.org/officeDocument/2006/relationships/slide" Target="/ppt/slides/slide10.xml" Id="R9cf3be9dae674f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e64fb2ae424d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5b2d26b8984ac2" /><Relationship Type="http://schemas.openxmlformats.org/officeDocument/2006/relationships/notesMaster" Target="/ppt/notesMasters/notesMaster1.xml" Id="R6eadbdb9f3dd40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202b966367407f" /><Relationship Type="http://schemas.openxmlformats.org/officeDocument/2006/relationships/notesMaster" Target="/ppt/notesMasters/notesMaster1.xml" Id="R2b82969dfffd46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2b69655b0c49c4" /><Relationship Type="http://schemas.openxmlformats.org/officeDocument/2006/relationships/notesMaster" Target="/ppt/notesMasters/notesMaster1.xml" Id="Rc4ce124cf9834b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f18518355f422c" /><Relationship Type="http://schemas.openxmlformats.org/officeDocument/2006/relationships/notesMaster" Target="/ppt/notesMasters/notesMaster1.xml" Id="R61ee9f4be0d341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1dd607773947e2" /><Relationship Type="http://schemas.openxmlformats.org/officeDocument/2006/relationships/notesMaster" Target="/ppt/notesMasters/notesMaster1.xml" Id="R46e7b198998a4b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705e534c7d4ed4" /><Relationship Type="http://schemas.openxmlformats.org/officeDocument/2006/relationships/notesMaster" Target="/ppt/notesMasters/notesMaster1.xml" Id="R52ea4c3cd52747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eeb9d844984a65" /><Relationship Type="http://schemas.openxmlformats.org/officeDocument/2006/relationships/notesMaster" Target="/ppt/notesMasters/notesMaster1.xml" Id="R3b985c083efb42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1f0730a6d54cbc" /><Relationship Type="http://schemas.openxmlformats.org/officeDocument/2006/relationships/notesMaster" Target="/ppt/notesMasters/notesMaster1.xml" Id="Rfa873a42886449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ce5bd3f4d54c4d" /><Relationship Type="http://schemas.openxmlformats.org/officeDocument/2006/relationships/notesMaster" Target="/ppt/notesMasters/notesMaster1.xml" Id="Rd706121cd04843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c56346ed7304470" /><Relationship Type="http://schemas.openxmlformats.org/officeDocument/2006/relationships/notesMaster" Target="/ppt/notesMasters/notesMaster1.xml" Id="R8fbb6859062948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README.md, docs/assumptions.md, data/greendispatch-ai-dataset/*.csv. Cover image generated with ImageGen for this project; no external customer data or logos.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README.md, docs/assumptions.md, data/greendispatch-ai-dataset/*.csv. Problem framing follows the hackathon brief and implementation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README.md, docs/assumptions.md, data/greendispatch-ai-dataset/*.csv. Hybrid OpenAI behavior is implemented in src/agents/llm_optimizer.py and src/agents/orchestrator.py.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README.md, docs/assumptions.md, data/greendispatch-ai-dataset/*.csv. Metrics computed from data/greendispatch-ai-dataset/plan_routes.csv and metrics_by_scenario.csv. Baseline: 190.82 km, 23.31 L, 62.14 kgCO2e, 113 idle minutes. Optimized: 137.22 km, 15.13 L, 43.64 kgCO2e, 39 idle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README.md, docs/assumptions.md, data/greendispatch-ai-dataset/*.csv. Agent responsibilities match docs/greendispatch-ai-implementation-plan.md and src/agents/*.py.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README.md, docs/assumptions.md, data/greendispatch-ai-dataset/*.csv. Hybrid execution documented in README.md and docs/assumptions.md. Reusable prompt: prompts/dispatch_optimizer_prompt.md.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README.md, docs/assumptions.md, data/greendispatch-ai-dataset/*.csv. Demo flow follows submission/demo-storyboard.md.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README.md, docs/assumptions.md, data/greendispatch-ai-dataset/*.csv. Data and governance points from README.md, docs/assumptions.md, and docs/greendispatch-ai-spec.md.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README.md, docs/assumptions.md, data/greendispatch-ai-dataset/*.csv. Roadmap items reflect README limitations and implementation plan extension points.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README.md, docs/assumptions.md, data/greendispatch-ai-dataset/*.csv. Judging criteria from docs/hackathon-details.md.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56a90bae1d4b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01e58bdcce4b9e" /><Relationship Type="http://schemas.openxmlformats.org/officeDocument/2006/relationships/slideLayout" Target="/ppt/slideLayouts/slideLayout1.xml" Id="R702cb290effa43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2cb290effa43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07033a8d84409" /><Relationship Type="http://schemas.openxmlformats.org/officeDocument/2006/relationships/image" Target="/ppt/media/image.png" Id="Rcbd363e5b29a48de" /><Relationship Type="http://schemas.openxmlformats.org/officeDocument/2006/relationships/notesSlide" Target="/ppt/notesSlides/notesSlide1.xml" Id="R0804af47cd8b41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efcbec442343ba" /><Relationship Type="http://schemas.openxmlformats.org/officeDocument/2006/relationships/notesSlide" Target="/ppt/notesSlides/notesSlide2.xml" Id="Rb4ce033bbc0e42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2f8ad72aee4055" /><Relationship Type="http://schemas.openxmlformats.org/officeDocument/2006/relationships/notesSlide" Target="/ppt/notesSlides/notesSlide3.xml" Id="Rda4cb8ecace848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cc2a7092d847a3" /><Relationship Type="http://schemas.openxmlformats.org/officeDocument/2006/relationships/chart" Target="/ppt/slides/charts/chart1.xml" Id="R4cc16b944345402d" /><Relationship Type="http://schemas.openxmlformats.org/officeDocument/2006/relationships/notesSlide" Target="/ppt/notesSlides/notesSlide4.xml" Id="Rf87321d83fed4f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1ca2abfd24d57" /><Relationship Type="http://schemas.openxmlformats.org/officeDocument/2006/relationships/notesSlide" Target="/ppt/notesSlides/notesSlide5.xml" Id="R4f573a850fca47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a5e4a5da044296" /><Relationship Type="http://schemas.openxmlformats.org/officeDocument/2006/relationships/notesSlide" Target="/ppt/notesSlides/notesSlide6.xml" Id="Rdb21c3ac384d44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28123616944cd" /><Relationship Type="http://schemas.openxmlformats.org/officeDocument/2006/relationships/notesSlide" Target="/ppt/notesSlides/notesSlide7.xml" Id="R7005d7d7b5874d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3fb061f4845df" /><Relationship Type="http://schemas.openxmlformats.org/officeDocument/2006/relationships/notesSlide" Target="/ppt/notesSlides/notesSlide8.xml" Id="R86aceac5d591464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f4684bee504442" /><Relationship Type="http://schemas.openxmlformats.org/officeDocument/2006/relationships/notesSlide" Target="/ppt/notesSlides/notesSlide9.xml" Id="R5550213c58c847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b0cb762cda494d" /><Relationship Type="http://schemas.openxmlformats.org/officeDocument/2006/relationships/notesSlide" Target="/ppt/notesSlides/notesSlide10.xml" Id="R7587feb1895b483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Reduction</c:v>
          </c:tx>
          <c:spPr>
            <a:solidFill xmlns:a="http://schemas.openxmlformats.org/drawingml/2006/main">
              <a:srgbClr val="16A34A"/>
            </a:solidFill>
          </c:spPr>
          <c:cat>
            <c:strRef>
              <c:f>'Chart Data'!$A$2:$A$7</c:f>
              <c:strCache>
                <c:ptCount val="6"/>
                <c:pt idx="0">
                  <c:v>Trips</c:v>
                </c:pt>
                <c:pt idx="1">
                  <c:v>Distance</c:v>
                </c:pt>
                <c:pt idx="2">
                  <c:v>Fuel</c:v>
                </c:pt>
                <c:pt idx="3">
                  <c:v>CO2e</c:v>
                </c:pt>
                <c:pt idx="4">
                  <c:v>Idle time</c:v>
                </c:pt>
                <c:pt idx="5">
                  <c:v>Planning time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33.3</c:v>
                </c:pt>
                <c:pt idx="1">
                  <c:v>28.1</c:v>
                </c:pt>
                <c:pt idx="2">
                  <c:v>35.1</c:v>
                </c:pt>
                <c:pt idx="3">
                  <c:v>29.8</c:v>
                </c:pt>
                <c:pt idx="4">
                  <c:v>65.5</c:v>
                </c:pt>
                <c:pt idx="5">
                  <c:v>84.4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052E1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2E8F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2E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363e5b29a48d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37B542-C2AC-4EFF-92DE-EB8B388F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GreenDispatch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BA222-1E29-4E51-89B2-75571DF5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1FAE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1FAE5"/>
                </a:solidFill>
                <a:latin typeface="Arial"/>
                <a:ea typeface="Arial"/>
                <a:cs typeface="Arial"/>
              </a:rPr>
              <a:t>Agentic Carbon-Aware Scheduling &amp; Dispatch Optimizer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CF84D-6696-47E4-883C-9906EAD0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CFD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CFDF5"/>
                </a:solidFill>
                <a:latin typeface="Arial"/>
                <a:ea typeface="Arial"/>
                <a:cs typeface="Arial"/>
              </a:rPr>
              <a:t>Optimize every dispatch for operations, cost, and carbon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464A39-5AC0-4A2B-893E-6BCFBB33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2000250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9D48A3-508D-4654-9B53-09701BB6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57625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Team Token Titans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7A4FA-CF0E-429E-B0D3-91F2956C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90950"/>
            <a:ext cx="2333625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DE68A"/>
          </a:solidFill>
          <a:ln xmlns:a="http://schemas.openxmlformats.org/drawingml/2006/main" w="0">
            <a:solidFill>
              <a:srgbClr val="FDE68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C09B7E-B3C8-4926-8818-ECD31AA3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857625"/>
            <a:ext cx="2028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8350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8350F"/>
                </a:solidFill>
                <a:latin typeface="Arial"/>
                <a:ea typeface="Arial"/>
                <a:cs typeface="Arial"/>
              </a:rPr>
              <a:t>Prompt, Plan, Preserve</a:t>
            </a:r>
          </a:p>
        </p:txBody>
      </p:sp>
    </p:spTree>
    <p:extLst>
      <p:ext uri="{BB962C8B-B14F-4D97-AF65-F5344CB8AC3E}">
        <p14:creationId xmlns:p14="http://schemas.microsoft.com/office/powerpoint/2010/main" val="19103613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BFC9B3-91C3-4D69-8DFB-8358D1F6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Dispatch decisions hide carbon 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864F9E-B51D-439B-BD87-C90E4160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Operations teams optimize availability and time while sustainability teams measure emissions after the fact.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ECCFA-09D8-4F57-86F6-24BCDEEE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0955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ED87B5-5E16-4570-AAF5-3C9338FE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33525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4E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64E3B"/>
                </a:solidFill>
                <a:latin typeface="Arial"/>
                <a:ea typeface="Arial"/>
                <a:cs typeface="Arial"/>
              </a:rPr>
              <a:t>Problem worth solving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44C386-441F-45C7-96DD-45F71133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2956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A01163-09E5-464C-A69B-C8B55059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295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0E22A5-8E5D-401F-AF24-A105137E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Operational pain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2B2BA-02A9-44AD-99C4-BB6BEACD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28765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Manual planning creates extra trips and duplicated stops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Idle time and partial loads raise avoidable cost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Disruption response depends on planner intuition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927DB9-A880-4431-9700-71E49EC9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00250"/>
            <a:ext cx="32956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60A682-04EB-4C0C-9819-7FA4509E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00250"/>
            <a:ext cx="3295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9A6EC8-DDCA-432F-9E58-457D0F53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2885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Sustainability gap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7560B0-68EB-41D8-BAC6-A61F7F1F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24150"/>
            <a:ext cx="28765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CO2e impact appears after execution, not before approval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Fleet assumptions sit across spreadsheets and reports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Teams lack a traceable baseline for each 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C5CA0D-6D12-47A8-A2D8-2A0E4FEE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32956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D31E64-EE66-4C77-843A-0F7A4518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3295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38D885-245C-4FA8-AC63-A20A52DD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2885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Who feels 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01519C-F790-42AC-BA43-627DE33C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28765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Dispatch planners need feasible plans quickly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Fleet managers need better utilization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Sustainability teams need auditable impact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3EE0A2-3CEF-4B4E-BB0D-C1C83AF0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GreenDispatch AI  |  Team Token Titans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CB1B6F-EBB2-42D4-A84C-44F0D6D6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551798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FA123D-A209-49E1-95D8-EBE5CB0E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GreenDispatch AI makes carbon part of dispatch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E3B951-DB5D-482C-855F-8E126AAD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The planner sees baseline, optimized, fuel-focused, distance-focused, and disruption-aware plans before approval.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EEF032-9313-4A23-8E4D-12E8AF0A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23812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FC7CAF-18C7-4AB4-BBBB-374BB88E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DAE35C-7B47-44D7-8535-34FDDBF7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574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CE6B43-D40D-466B-9E3B-1C2FB445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Scenario input with editable jobs and vehicles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CCB97B-2BC5-421E-882C-C2B0B12B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85950"/>
            <a:ext cx="23812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9495C0-204B-4F57-8F8B-3CC0CFCE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859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2CA56B-CB09-43C7-BF60-8C289C9E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574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70F641-53DA-4A13-99FA-EE34850A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5270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Agents evaluate demand, emissions, constraints, and alternatives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85FE0-F8E1-44E7-A6EE-E0F89BB2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85950"/>
            <a:ext cx="23812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D58F9A-230C-4D14-9431-3724AC9D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859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F61021-BD75-4080-85CA-577A8D1B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574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446B76-0988-47B1-836C-DD7E913E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5270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Dashboard compares plans using operational and CO2e metrics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C46E55-75C5-44B2-A9DC-C087F6BF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85950"/>
            <a:ext cx="23812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E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6C4876-BFB1-4217-8DAD-6AFC4E1B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859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D5B065-CBB9-4FF2-9957-E0198DCA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574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6BE285-D998-4834-96EE-9DA8BD0B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5270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Human planner approves or requests revision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A01918-1AA6-44FE-8C78-627B09A9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8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Core design choice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7547BB-7085-4D00-9B8D-D0540A79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LLM agents reason over candidate plans when an OpenAI key is present.</a:t>
            </a:r>
          </a:p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Deterministic tools calculate emissions, constraints, route metrics, and deltas.</a:t>
            </a:r>
          </a:p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If the key is missing or the API fails, the demo still runs with local agent logic.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C78A35-470B-4F38-B0FF-06358410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GreenDispatch AI  |  Team Token Titans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55F649-FBF9-4A5B-95C5-57E2EADF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757174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8C3398-2BAA-4D6E-B712-7586CBD3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Measured impact from the optimized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B9C79E-ED68-44EF-A2A6-3F88997C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Baseline versus agentic carbon-aware optimized scenario from the synthetic dataset.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7D3CD0-18CA-4266-81DB-3E146148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20764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1CEAF-78C9-4C46-8102-7CDE1E97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294CE9-6E72-447E-B2EA-7F781867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D1B014-E3E3-4085-8020-DFA0E12A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trips consolidated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2CBA6F-515A-49D6-878B-8742ED93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38300"/>
            <a:ext cx="20764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919262-8D3C-43CD-97E8-21780581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383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201E3-08A7-4B52-91F2-F7F3C1C2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8097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53.60 km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4BE730-784C-4221-B05E-0EBAAF3F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0505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distance avoided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1B710A-9F8D-430D-8BD3-DAA1EFD4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38300"/>
            <a:ext cx="20764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A822F4-42AC-42C0-8726-4123CA00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383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C25354-333D-4E15-9A7F-DCB92093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8097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8.18 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1B8191-637A-4290-B7D1-FBBC115E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30505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fuel saved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7269E6-0309-4AA6-8630-19315C6C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638300"/>
            <a:ext cx="20764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E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B5E6EE-CFE3-4825-AA5B-C4951701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6383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4704A9-6C44-465F-81EF-45B94AE3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097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18.50 kg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0FA8D6-4D5C-45B3-B87B-3AAB66CB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0505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CO2e avoided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51D718-4F76-4E4A-93B4-29105EAE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638300"/>
            <a:ext cx="17526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E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8413EE-C9F1-47B0-8127-FB9035E4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6383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96D526-1CE9-4AA7-8E20-59C43DED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8097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74 min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7E7620-C60F-415A-9C91-524475CA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305050"/>
            <a:ext cx="140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idle time reduced</a:t>
            </a:r>
          </a:p>
        </p:txBody>
      </p:sp>
      <p:graphicFrame>
        <p:nvGraphicFramePr>
          <p:cNvPr id="49" name="Chart"/>
          <p:cNvGraphicFramePr/>
          <p:nvPr/>
        </p:nvGraphicFramePr>
        <p:xfrm>
          <a:off xmlns:a="http://schemas.openxmlformats.org/drawingml/2006/main" x="1143000" y="3257550"/>
          <a:ext xmlns:a="http://schemas.openxmlformats.org/drawingml/2006/main" cx="9334500" cy="2619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cc16b944345402d"/>
          </a:graphicData>
        </a:graphic>
      </p:graphicFrame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788E99-DB70-4A9D-B954-A679E22B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817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Reduction percentage by metric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D148DD-C137-433A-A3E9-753708D4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GreenDispatch AI  |  Team Token Titans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135703-617B-4ABD-AED4-7FC86566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554953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9BCB2C-5512-447B-8075-4D56F1D5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Agentic workflow with auditable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44F04-1BC8-4EB7-8011-9668AFD4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The system separates reasoning from calculations so judges can inspect every decision.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EB139-7F84-4E21-8D27-590A9746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71650"/>
            <a:ext cx="35433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52E16"/>
          </a:solidFill>
          <a:ln xmlns:a="http://schemas.openxmlformats.org/drawingml/2006/main" w="0">
            <a:solidFill>
              <a:srgbClr val="052E1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E242E0-D9E0-4FBC-BD81-DFE53128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Orchestrator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6C9A9-3255-41A2-A155-D3168580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1752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FF4D0-BFD0-4163-8B0C-4BE40F4D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1752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0F7B63-5799-4186-A4F1-364E489E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480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Forecasting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17C09-EA9D-461A-8246-6FCED277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Demand and priority pressure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80B1D-77CB-4261-A799-7F35640D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1752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5D7E27-4187-4474-BDDF-0A2561EA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1752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8CEA5C-D7CC-43F3-A67F-DFE9A576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480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Carbon Intelligence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7CF094-C974-42EE-9871-9E46B73C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84810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Fuel, energy, CO2e assumptions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EEE345-C93D-4199-A133-F95D0CC5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57550"/>
            <a:ext cx="1752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669A0D-A6DB-44D0-8296-46B3E550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57550"/>
            <a:ext cx="1752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DA8941-D232-4031-8731-E7C2133B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480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Optimization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8209B4-0F91-44D5-A67F-AA6EA5DF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4810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Candidate route evaluation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20DCC4-6BE5-44C0-B6F8-0FFA4911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57550"/>
            <a:ext cx="1752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9776F1-90E2-4425-83C6-F166C6B3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57550"/>
            <a:ext cx="1752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2DFA3F-39A3-46FE-8C90-83E90E16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480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Constraint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321A40-0E27-47B8-8067-5A040914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4810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Capacity, SLA, availability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EAD03D-003F-4BD1-BB67-65872926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57550"/>
            <a:ext cx="1752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71BB2D-1DF1-41EE-B856-E6F8D536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57550"/>
            <a:ext cx="1752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C6D8D8-5ADB-4326-9BFA-2A349E4C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480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Monitoring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890F4B-08E9-42D8-A107-BB05BE70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4810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Disruption and replanning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4647B8-E781-45CC-AFA0-755BB620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257800"/>
            <a:ext cx="80391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FA8857-883A-4FF7-9C00-36BDAF16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410200"/>
            <a:ext cx="746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Deterministic calculators handle emissions, metrics, constraints, comparison, and plan persistence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D84770-5085-44A1-8CD0-232518DC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GreenDispatch AI  |  Team Token Titans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4B35B1-EEF5-481B-93AA-2D247C38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094167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C0468C-A7BB-446D-A809-E1B1F612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Hybrid execution keeps the demo robust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B147D7-4DFB-47BA-B39E-7767D01C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Live LLM agents run when credentials exist; deterministic fallback keeps the app runnable for judges.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57D331-FB0C-4009-A189-B0195131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0482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7C641-62D5-4709-A269-AC2EE9EA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04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F6C998-BDC9-4701-9BE0-13A1C077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462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Live OpenAI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8CD7E2-8A69-4F5A-9F98-3D139777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46291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Triggered from Run optimization when OPENAI_API_KEY is present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Reusable prompt evaluates jobs, vehicles, plans, metrics, and constraints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Dashboard records input, output, and total tokens from API usage metadata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F9A5F9-F533-4ED8-A9E0-F5A0B826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90700"/>
            <a:ext cx="50482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4F3D1A-0C55-4C54-9E9F-B56BD4B4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90700"/>
            <a:ext cx="504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321D59-B72E-40E4-8AC7-A5F4FA7E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19300"/>
            <a:ext cx="462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Fallback 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04A74B-31DA-45BD-901D-0CF08D8A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14600"/>
            <a:ext cx="46291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Runs without private systems or external credentials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Keeps all emissions and constraint calculations local and testable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Reports zero actual LLM tokens and explains the fallback reason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A76F24-E9CC-4D12-ADCA-81573AC7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14950"/>
            <a:ext cx="84201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DE6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D85FF9-B329-4531-9334-1CB20D22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67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8350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350F"/>
                </a:solidFill>
                <a:latin typeface="Arial"/>
                <a:ea typeface="Arial"/>
                <a:cs typeface="Arial"/>
              </a:rPr>
              <a:t>The model reasons. The calculators prove.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77FDD9-1E44-4832-AB9D-05CA2665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GreenDispatch AI  |  Team Token Titans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C234B0-D818-4E4E-9CE0-367B4B82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812587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A2EE01-8A1F-4867-B411-EB9B79E8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The demo shows the agent running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7C4546-1E56-4450-A1C7-A4BBCC7C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A 3 to 5 minute walkthrough can cover baseline, optimization, trace, approval, disruption, and summary.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484D18-AACB-47F0-8795-D36923A8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1619250" cy="266700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77D953-66DB-4318-8543-E684AA51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14550"/>
            <a:ext cx="6667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75ABE-8D06-43D8-94D2-20446EB5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1812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3E3BD4-4DBC-402B-9320-D6493969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49A881-3645-4DF9-A2BC-897DCFB9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1276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Show 6 manual-style routes and assumptions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3C950E-01F9-4C11-A662-11D83B97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885950"/>
            <a:ext cx="1619250" cy="266700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549708-E548-427C-B13B-B42AFE72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114550"/>
            <a:ext cx="6667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5893F4-A9F4-4AD6-982D-054DD9D7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812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AF4BBD-851B-4A85-BDAC-BF94F3C0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432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Optimization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C6836B-FAC2-4AB0-843A-F4ED3D73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57550"/>
            <a:ext cx="1276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Run selected scenario and compare impact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97E792-E25D-40A5-8DE4-FA4977EF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85950"/>
            <a:ext cx="1619250" cy="266700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538B7B-A88F-41C2-BAA3-DB66CBBA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14550"/>
            <a:ext cx="6667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4CF91A-E0DC-4C1B-9BF9-562D9BA1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812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F5EC6B-8319-4FF5-A53E-1B5AF45D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432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Trace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AEECB7-11B2-49EC-96A9-91BCB841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57550"/>
            <a:ext cx="1276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Inspect each agent output and tool used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1AA72C-A77D-4223-A1BA-3C290726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85950"/>
            <a:ext cx="1619250" cy="266700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7BB611-660D-4C0F-A659-71FE2D68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14550"/>
            <a:ext cx="6667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7B60FC-F806-4E6E-8D77-258D4E1F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812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DA6D34-ECD2-4BC7-88C7-2E046999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432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Approval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CF3E88-1118-4862-AD35-41AC4125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57550"/>
            <a:ext cx="1276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Human planner approves or requests revision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39F9C5-54D9-457C-93FA-F57CD6CB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85950"/>
            <a:ext cx="1619250" cy="266700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CCA530-24DD-4837-B710-87207CB2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14550"/>
            <a:ext cx="6667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1F1043-5F6B-4EC7-91FE-5CB34FEA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812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FA81A2-5451-4CA3-91C3-EAC635D3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432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Disruption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1C46D1-6ECD-4765-B187-D5144078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57550"/>
            <a:ext cx="1276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Vehicle unavailable event triggers reoptimization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BB0469-0359-4E45-9BF3-6D4AD5EC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885950"/>
            <a:ext cx="1619250" cy="266700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487699-0B54-4F96-AB01-656895DB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114550"/>
            <a:ext cx="6667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4ADA0C-A760-4989-A75C-0CDEED7F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1812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966760-60E1-4A6F-91C5-77DE5E17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7432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Summary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216C54-08EB-46BC-AF82-DF4AF3F7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57550"/>
            <a:ext cx="1276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Download decision summary and audit trail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15050A-E397-467D-9370-CC79AC31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1970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Judges see working software, not only slides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F94E23-2C42-4A29-9AB1-BDEA72E1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GreenDispatch AI  |  Team Token Titans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A1C73A-36D7-4D23-A3F9-FE4AA385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330737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BE06AF-B0CF-42C6-8DE9-3805CAB3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Built for hackathon-safe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32154D-57EC-445A-ABB4-6A1CA013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The PoC keeps data synthetic, decisions auditable, and outputs inspectable.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95E3DC-2316-4026-BA86-7BF2BAA4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327660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1E8A0D-6DDF-460D-BFD5-D1637101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3276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992B6-42DB-4A3E-B21E-965F36D0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812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Safe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5BDAB-C8AC-4CDB-B006-3FEC91BE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28575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Synthetic jobs, vehicles, locations, emissions factors, and route plans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No customer code, confidential data, personal data, or client branding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Source dataset stays read-only during optimization runs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79A03-84FE-4B5A-B155-50340964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52600"/>
            <a:ext cx="327660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317071-8789-4BA4-857C-D2005EF4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52600"/>
            <a:ext cx="3276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36A60-CFE9-4128-A59D-E9CD6F8B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812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Audit trail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2C23EC-812E-4D62-81A4-DF7BFF74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76500"/>
            <a:ext cx="28575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Every run writes structured JSON artifacts under outputs/runs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Agent trace records role, tool used, output, rationale, and status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Approval audit captures approve, reject, or revision request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06085A-64C6-4E45-80A5-58F6B387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327660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458F69-AAB0-48C4-AB52-3A733671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3276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98BF38-2488-4C6E-AA57-E3E3D460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812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Guardrails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D90F99-6AD9-4E27-AA42-A6787EA9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76500"/>
            <a:ext cx="28575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Human approval required before final dispatch recommendation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Capacity, SLA, availability, priority, and disruption constraints are visible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Known limitations are declared in README and assumptions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82C664-441A-4B03-9E7F-1B0342B8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GreenDispatch AI  |  Team Token Titans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8F8078-60AE-4710-A2F2-14E7D269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776335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3CC0FB-C060-4107-B132-0F91ADA0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Roadmap from PoC to 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D3ABE3-960F-48D5-B809-9DF22B6B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The current version proves the decision workflow; the next steps connect it to real operations.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ADE155-98A9-4532-892B-B549EDA2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31432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69FE6-89E9-453F-A750-520F9312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40EE5E-878B-4496-8883-AA39369C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383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Next sprint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C860E-D860-45F0-ABE9-C8A9499F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33650"/>
            <a:ext cx="27241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Add map-provider route distance refresh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Import telematics fuel and idle data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Save scenario versions for demo replay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C4255B-1319-46DE-AAF7-8271F691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09750"/>
            <a:ext cx="31432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170395-AB09-46D8-8E7B-9830E0E6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097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17E4B2-68D9-4320-A49B-31088573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383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Pilot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B0E0C8-1FFB-426F-B38B-18DD9AB2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33650"/>
            <a:ext cx="27241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Connect dispatch or field-service systems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Add OR-Tools route solving after heuristic workflow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Compare against real historical dispatch plans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1244FF-C387-4A92-96DE-589A10E8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1432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FEE878-28BA-4395-9743-EBBA059D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8079A4-C882-44B5-BB5A-5CE9C61E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383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Enterprise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CD2418-64C0-44CA-9325-05307170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33650"/>
            <a:ext cx="27241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Role-based approvals and audit integration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Regional emission factor libraries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Cumulative sustainability reporting dataset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1C3212-0DB5-4271-A770-C6F48455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19700"/>
            <a:ext cx="979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The product path is clear: replace assumptions with measured fleet data while preserving traceability.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1C3D1A-5E23-432B-9D0C-4F2D3E0C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GreenDispatch AI  |  Team Token Titans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A254B4-A1AB-43FF-AC95-8C8EF280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839159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2E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B4B6D8-BD71-44AE-8699-F4ABBA06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GreenDispatch AI fits the judging criteria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F5B9E-4C0B-4461-9DB0-C1049456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103632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64E3B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BCE010-6810-4456-90A0-F1FCAD4F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525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1FA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1FAE5"/>
                </a:solidFill>
                <a:latin typeface="Arial"/>
                <a:ea typeface="Arial"/>
                <a:cs typeface="Arial"/>
              </a:rPr>
              <a:t>Sustainability impact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62D0C-F64D-4EB9-8E8D-08172C2C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525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CO2e, distance, fuel, idle time, and planning time deltas are quantified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69E66-08ED-47B6-A5BC-D07BBC61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103632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64E3B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C74C9D-27F0-4E10-BD68-E0AE5E67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336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1FA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1FAE5"/>
                </a:solidFill>
                <a:latin typeface="Arial"/>
                <a:ea typeface="Arial"/>
                <a:cs typeface="Arial"/>
              </a:rPr>
              <a:t>Agentic depth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3AAD19-D24E-47D2-AEDA-3B047A5E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336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Orchestrator coordinates specialized agents, tools, constraints, and feedback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69B39-41DA-49E8-9A96-E5482231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103632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64E3B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523B86-1928-47EE-8B8C-F6011CA1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146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1FA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1FAE5"/>
                </a:solidFill>
                <a:latin typeface="Arial"/>
                <a:ea typeface="Arial"/>
                <a:cs typeface="Arial"/>
              </a:rPr>
              <a:t>Agent sustainability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C3A521-137F-457E-958F-58AF3BAA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146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Live token usage is measured; fallback records zero actual LLM tokens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554048-B03D-4AB0-9C71-AFC7D378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103632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64E3B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1C3B05-E67A-4BF3-A269-6F91F97B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957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1FA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1FAE5"/>
                </a:solidFill>
                <a:latin typeface="Arial"/>
                <a:ea typeface="Arial"/>
                <a:cs typeface="Arial"/>
              </a:rPr>
              <a:t>Demo communication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F2D189-3F47-45A1-99A5-A712BF58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957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Streamlit app shows the agent running in a 3 to 5 minute 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4CC22B-0CC5-4C8F-8E48-AD142FA9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103632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64E3B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D4CDB1-C557-4E0C-B937-6724483B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767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1FA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1FAE5"/>
                </a:solidFill>
                <a:latin typeface="Arial"/>
                <a:ea typeface="Arial"/>
                <a:cs typeface="Arial"/>
              </a:rPr>
              <a:t>Innovation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C6CA34-4A04-46EC-A642-4F879BF3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767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Carbon-aware dispatch moves sustainability into the operational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3BE5E0-7BF8-4A5E-A0DC-185A21E3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38800"/>
            <a:ext cx="1002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DE68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DE68A"/>
                </a:solidFill>
                <a:latin typeface="Arial"/>
                <a:ea typeface="Arial"/>
                <a:cs typeface="Arial"/>
              </a:rPr>
              <a:t>GreenDispatch AI makes sustainability measurable at the moment dispatch decisions are made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684838-E92D-42E8-9CC3-40B86091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62103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1FAE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FAE5"/>
                </a:solidFill>
                <a:latin typeface="Arial"/>
                <a:ea typeface="Arial"/>
                <a:cs typeface="Arial"/>
              </a:rPr>
              <a:t>Team Token Titans</a:t>
            </a:r>
          </a:p>
        </p:txBody>
      </p:sp>
    </p:spTree>
    <p:extLst>
      <p:ext uri="{BB962C8B-B14F-4D97-AF65-F5344CB8AC3E}">
        <p14:creationId xmlns:p14="http://schemas.microsoft.com/office/powerpoint/2010/main" val="15952660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2026-10-02T12:10:18.2090000Z</dcterms:created>
  <dcterms:modified xsi:type="dcterms:W3CDTF">2026-10-02T12:10:18.2090000Z</dcterms:modified>
</coreProperties>
</file>
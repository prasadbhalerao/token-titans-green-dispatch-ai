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c0e66a95674e67" /><Relationship Type="http://schemas.openxmlformats.org/officeDocument/2006/relationships/extended-properties" Target="/docProps/app.xml" Id="R4c6c811019a44a8d" /><Relationship Type="http://schemas.openxmlformats.org/officeDocument/2006/relationships/officeDocument" Target="/ppt/presentation.xml" Id="R6f68c38baca541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f616562ef240f1"/>
  </p:sldMasterIdLst>
  <p:notesMasterIdLst>
    <p:notesMasterId xmlns:r="http://schemas.openxmlformats.org/officeDocument/2006/relationships" r:id="R59b1b4f656f74c00"/>
  </p:notesMasterIdLst>
  <p:sldIdLst>
    <p:sldId xmlns:r="http://schemas.openxmlformats.org/officeDocument/2006/relationships" id="256" r:id="R1eae2e070747494d"/>
    <p:sldId xmlns:r="http://schemas.openxmlformats.org/officeDocument/2006/relationships" id="257" r:id="Rd57c51e745c24870"/>
    <p:sldId xmlns:r="http://schemas.openxmlformats.org/officeDocument/2006/relationships" id="258" r:id="Rc383dd4c372842f6"/>
    <p:sldId xmlns:r="http://schemas.openxmlformats.org/officeDocument/2006/relationships" id="259" r:id="R7ec823f7ffc94db0"/>
    <p:sldId xmlns:r="http://schemas.openxmlformats.org/officeDocument/2006/relationships" id="260" r:id="R2e89d01dcb704ae0"/>
    <p:sldId xmlns:r="http://schemas.openxmlformats.org/officeDocument/2006/relationships" id="261" r:id="R27e94ed76804453f"/>
    <p:sldId xmlns:r="http://schemas.openxmlformats.org/officeDocument/2006/relationships" id="262" r:id="R9d1f73a1781c4d4c"/>
    <p:sldId xmlns:r="http://schemas.openxmlformats.org/officeDocument/2006/relationships" id="263" r:id="R13044ad7d2cf4b9c"/>
    <p:sldId xmlns:r="http://schemas.openxmlformats.org/officeDocument/2006/relationships" id="264" r:id="Rf184e581219a4feb"/>
    <p:sldId xmlns:r="http://schemas.openxmlformats.org/officeDocument/2006/relationships" id="265" r:id="Rbdd3c97a5e2147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3a294f77c64f6b" /><Relationship Type="http://schemas.openxmlformats.org/officeDocument/2006/relationships/slideMaster" Target="/ppt/slideMasters/slideMaster1.xml" Id="R02f616562ef240f1" /><Relationship Type="http://schemas.openxmlformats.org/officeDocument/2006/relationships/notesMaster" Target="/ppt/notesMasters/notesMaster1.xml" Id="R59b1b4f656f74c00" /><Relationship Type="http://schemas.openxmlformats.org/officeDocument/2006/relationships/presProps" Target="/ppt/presProps.xml" Id="Rf73ebf0e15574d39" /><Relationship Type="http://schemas.openxmlformats.org/officeDocument/2006/relationships/tableStyles" Target="/ppt/tableStyles.xml" Id="R655f0332a38e4187" /><Relationship Type="http://schemas.openxmlformats.org/officeDocument/2006/relationships/slide" Target="/ppt/slides/slide1.xml" Id="R1eae2e070747494d" /><Relationship Type="http://schemas.openxmlformats.org/officeDocument/2006/relationships/slide" Target="/ppt/slides/slide2.xml" Id="Rd57c51e745c24870" /><Relationship Type="http://schemas.openxmlformats.org/officeDocument/2006/relationships/slide" Target="/ppt/slides/slide3.xml" Id="Rc383dd4c372842f6" /><Relationship Type="http://schemas.openxmlformats.org/officeDocument/2006/relationships/slide" Target="/ppt/slides/slide4.xml" Id="R7ec823f7ffc94db0" /><Relationship Type="http://schemas.openxmlformats.org/officeDocument/2006/relationships/slide" Target="/ppt/slides/slide5.xml" Id="R2e89d01dcb704ae0" /><Relationship Type="http://schemas.openxmlformats.org/officeDocument/2006/relationships/slide" Target="/ppt/slides/slide6.xml" Id="R27e94ed76804453f" /><Relationship Type="http://schemas.openxmlformats.org/officeDocument/2006/relationships/slide" Target="/ppt/slides/slide7.xml" Id="R9d1f73a1781c4d4c" /><Relationship Type="http://schemas.openxmlformats.org/officeDocument/2006/relationships/slide" Target="/ppt/slides/slide8.xml" Id="R13044ad7d2cf4b9c" /><Relationship Type="http://schemas.openxmlformats.org/officeDocument/2006/relationships/slide" Target="/ppt/slides/slide9.xml" Id="Rf184e581219a4feb" /><Relationship Type="http://schemas.openxmlformats.org/officeDocument/2006/relationships/slide" Target="/ppt/slides/slide10.xml" Id="Rbdd3c97a5e2147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96d4cbf17d45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02ae5f90dd4538" /><Relationship Type="http://schemas.openxmlformats.org/officeDocument/2006/relationships/notesMaster" Target="/ppt/notesMasters/notesMaster1.xml" Id="R9964136bdd6d48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9250e97c4048e6" /><Relationship Type="http://schemas.openxmlformats.org/officeDocument/2006/relationships/notesMaster" Target="/ppt/notesMasters/notesMaster1.xml" Id="R06a771774c2e4a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612ff1fd164832" /><Relationship Type="http://schemas.openxmlformats.org/officeDocument/2006/relationships/notesMaster" Target="/ppt/notesMasters/notesMaster1.xml" Id="R2bd3371407cb43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0513dd366f4b18" /><Relationship Type="http://schemas.openxmlformats.org/officeDocument/2006/relationships/notesMaster" Target="/ppt/notesMasters/notesMaster1.xml" Id="R571f46c95b134f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00c80d7d174295" /><Relationship Type="http://schemas.openxmlformats.org/officeDocument/2006/relationships/notesMaster" Target="/ppt/notesMasters/notesMaster1.xml" Id="R86a7153d9d5c4d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f0684bf9554e5b" /><Relationship Type="http://schemas.openxmlformats.org/officeDocument/2006/relationships/notesMaster" Target="/ppt/notesMasters/notesMaster1.xml" Id="Rc949e52ab12c484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6b021c8a794c2d" /><Relationship Type="http://schemas.openxmlformats.org/officeDocument/2006/relationships/notesMaster" Target="/ppt/notesMasters/notesMaster1.xml" Id="R287ed7a0375b4dc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490e9d65804ede" /><Relationship Type="http://schemas.openxmlformats.org/officeDocument/2006/relationships/notesMaster" Target="/ppt/notesMasters/notesMaster1.xml" Id="R50e4dedb6e1b495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74036ba2c1b46ad" /><Relationship Type="http://schemas.openxmlformats.org/officeDocument/2006/relationships/notesMaster" Target="/ppt/notesMasters/notesMaster1.xml" Id="Rd5433f35df4e43b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0f749271e14bdf" /><Relationship Type="http://schemas.openxmlformats.org/officeDocument/2006/relationships/notesMaster" Target="/ppt/notesMasters/notesMaster1.xml" Id="Rac0e57fa5af643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README.md, docs/assumptions.md, data/greendispatch-ai-dataset/*.csv. Cover image generated with ImageGen for this project; no external customer data or logos.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README.md, docs/assumptions.md, data/greendispatch-ai-dataset/*.csv. Problem framing follows the hackathon brief and implementation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README.md, docs/assumptions.md, data/greendispatch-ai-dataset/*.csv. Hybrid OpenAI behavior is implemented in src/agents/llm_optimizer.py and src/agents/orchestrator.py.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README.md, docs/assumptions.md, data/greendispatch-ai-dataset/*.csv. Metrics computed from data/greendispatch-ai-dataset/plan_routes.csv and metrics_by_scenario.csv. Baseline: 190.82 km, 23.31 L, 62.14 kgCO2e, 113 idle minutes. Optimized: 137.22 km, 15.13 L, 43.64 kgCO2e, 39 idle minutes.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README.md, docs/assumptions.md, data/greendispatch-ai-dataset/*.csv. Agent responsibilities match docs/greendispatch-ai-implementation-plan.md and src/agents/*.py.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README.md, docs/assumptions.md, data/greendispatch-ai-dataset/*.csv. Hybrid execution documented in README.md and docs/assumptions.md. Reusable prompt: prompts/dispatch_optimizer_prompt.md.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README.md, docs/assumptions.md, data/greendispatch-ai-dataset/*.csv. Demo flow follows submission/demo-storyboard.md.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README.md, docs/assumptions.md, data/greendispatch-ai-dataset/*.csv. Data and governance points from README.md, docs/assumptions.md, and docs/greendispatch-ai-spec.md.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README.md, docs/assumptions.md, data/greendispatch-ai-dataset/*.csv. Roadmap items reflect README limitations and implementation plan extension points.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docs/hackathon-details.md, docs/greendispatch-ai-spec.md, docs/greendispatch-ai-implementation-plan.md, README.md, docs/assumptions.md, data/greendispatch-ai-dataset/*.csv. Judging criteria from docs/hackathon-details.md.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872ca077c846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f77f2dc84848f8" /><Relationship Type="http://schemas.openxmlformats.org/officeDocument/2006/relationships/slideLayout" Target="/ppt/slideLayouts/slideLayout1.xml" Id="Rdee601061c4c47e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ee601061c4c47e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6ffc15d14c4b62" /><Relationship Type="http://schemas.openxmlformats.org/officeDocument/2006/relationships/image" Target="/ppt/media/image.png" Id="R261b4189d75b4acb" /><Relationship Type="http://schemas.openxmlformats.org/officeDocument/2006/relationships/notesSlide" Target="/ppt/notesSlides/notesSlide1.xml" Id="Rac0dfbe762e148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4dcaff8a64a94" /><Relationship Type="http://schemas.openxmlformats.org/officeDocument/2006/relationships/notesSlide" Target="/ppt/notesSlides/notesSlide2.xml" Id="Ra5cfccacf71440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741b3f33843f9" /><Relationship Type="http://schemas.openxmlformats.org/officeDocument/2006/relationships/notesSlide" Target="/ppt/notesSlides/notesSlide3.xml" Id="Rc6c4c5f57fa245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9cf04159e34d4b" /><Relationship Type="http://schemas.openxmlformats.org/officeDocument/2006/relationships/chart" Target="/ppt/slides/charts/chart1.xml" Id="R3dad4b5472514011" /><Relationship Type="http://schemas.openxmlformats.org/officeDocument/2006/relationships/notesSlide" Target="/ppt/notesSlides/notesSlide4.xml" Id="R74647367f5a345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4272d68dc4c56" /><Relationship Type="http://schemas.openxmlformats.org/officeDocument/2006/relationships/notesSlide" Target="/ppt/notesSlides/notesSlide5.xml" Id="R04a60a33a29547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97d3e1e7f243cf" /><Relationship Type="http://schemas.openxmlformats.org/officeDocument/2006/relationships/notesSlide" Target="/ppt/notesSlides/notesSlide6.xml" Id="Rdc0918091dca43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a8a03bb4ef4ba8" /><Relationship Type="http://schemas.openxmlformats.org/officeDocument/2006/relationships/notesSlide" Target="/ppt/notesSlides/notesSlide7.xml" Id="R01128a14d7ea44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694c7f2d34423" /><Relationship Type="http://schemas.openxmlformats.org/officeDocument/2006/relationships/notesSlide" Target="/ppt/notesSlides/notesSlide8.xml" Id="Rf58ff9b6a147465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3774e47b274473" /><Relationship Type="http://schemas.openxmlformats.org/officeDocument/2006/relationships/notesSlide" Target="/ppt/notesSlides/notesSlide9.xml" Id="R1ea7518abb3e45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21c43345a74c0b" /><Relationship Type="http://schemas.openxmlformats.org/officeDocument/2006/relationships/notesSlide" Target="/ppt/notesSlides/notesSlide10.xml" Id="Rc22166e7a33342f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Reduction</c:v>
          </c:tx>
          <c:spPr>
            <a:solidFill xmlns:a="http://schemas.openxmlformats.org/drawingml/2006/main">
              <a:srgbClr val="16A34A"/>
            </a:solidFill>
          </c:spPr>
          <c:cat>
            <c:strRef>
              <c:f>'Chart Data'!$A$2:$A$7</c:f>
              <c:strCache>
                <c:ptCount val="6"/>
                <c:pt idx="0">
                  <c:v>Trips</c:v>
                </c:pt>
                <c:pt idx="1">
                  <c:v>Distance</c:v>
                </c:pt>
                <c:pt idx="2">
                  <c:v>Fuel</c:v>
                </c:pt>
                <c:pt idx="3">
                  <c:v>CO2e</c:v>
                </c:pt>
                <c:pt idx="4">
                  <c:v>Idle time</c:v>
                </c:pt>
                <c:pt idx="5">
                  <c:v>Planning time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33.3</c:v>
                </c:pt>
                <c:pt idx="1">
                  <c:v>28.1</c:v>
                </c:pt>
                <c:pt idx="2">
                  <c:v>35.1</c:v>
                </c:pt>
                <c:pt idx="3">
                  <c:v>29.8</c:v>
                </c:pt>
                <c:pt idx="4">
                  <c:v>65.5</c:v>
                </c:pt>
                <c:pt idx="5">
                  <c:v>84.4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052E1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2E8F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2E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1b4189d75b4acb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56F0F5-36C9-4490-8990-D5465ED1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GreenDispatch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E5BA13-DCE9-4DF5-9707-99199B04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3835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1FAE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1FAE5"/>
                </a:solidFill>
                <a:latin typeface="Arial"/>
                <a:ea typeface="Arial"/>
                <a:cs typeface="Arial"/>
              </a:rPr>
              <a:t>Agentic Carbon-Aware Scheduling &amp; Dispatch Optimizer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97BE20-4DA2-4866-AA63-0D38BCC5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514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CFD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CFDF5"/>
                </a:solidFill>
                <a:latin typeface="Arial"/>
                <a:ea typeface="Arial"/>
                <a:cs typeface="Arial"/>
              </a:rPr>
              <a:t>Optimize every dispatch for operations, cost, and carbon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D0B29F-9413-4BA6-B231-C5EB8E15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2000250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D1FAE5"/>
          </a:solidFill>
          <a:ln xmlns:a="http://schemas.openxmlformats.org/drawingml/2006/main" w="0">
            <a:solidFill>
              <a:srgbClr val="D1FAE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5F91A8-EB59-41BF-89B7-AB67A9D1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57625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Team Token Titans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CC85E3-3C1B-4DC1-B566-19334BDD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90950"/>
            <a:ext cx="2333625" cy="361950"/>
          </a:xfrm>
          <a:prstGeom xmlns:a="http://schemas.openxmlformats.org/drawingml/2006/main" prst="roundRect">
            <a:avLst>
              <a:gd name="adj" fmla="val 42105"/>
            </a:avLst>
          </a:prstGeom>
          <a:solidFill xmlns:a="http://schemas.openxmlformats.org/drawingml/2006/main">
            <a:srgbClr val="FDE68A"/>
          </a:solidFill>
          <a:ln xmlns:a="http://schemas.openxmlformats.org/drawingml/2006/main" w="0">
            <a:solidFill>
              <a:srgbClr val="FDE68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BDEDC3-BBE4-4715-9B50-E1D899A8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857625"/>
            <a:ext cx="2028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8350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8350F"/>
                </a:solidFill>
                <a:latin typeface="Arial"/>
                <a:ea typeface="Arial"/>
                <a:cs typeface="Arial"/>
              </a:rPr>
              <a:t>Prompt, Plan, Preserve</a:t>
            </a:r>
          </a:p>
        </p:txBody>
      </p:sp>
    </p:spTree>
    <p:extLst>
      <p:ext uri="{BB962C8B-B14F-4D97-AF65-F5344CB8AC3E}">
        <p14:creationId xmlns:p14="http://schemas.microsoft.com/office/powerpoint/2010/main" val="1905283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877A70-A747-4C5E-BABE-72445BC2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Dispatch decisions hide carbon impact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7C93F6-1C55-4E67-85ED-F86AE125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Operations teams optimize availability and time while sustainability teams measure emissions after the fact.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7F2E5-8D9A-486D-8706-F58D0CF7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2095500" cy="323850"/>
          </a:xfrm>
          <a:prstGeom xmlns:a="http://schemas.openxmlformats.org/drawingml/2006/main" prst="roundRect">
            <a:avLst>
              <a:gd name="adj" fmla="val 47059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855BEF-5A47-45BF-ADD8-FA010B67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33525"/>
            <a:ext cx="1790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64E3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64E3B"/>
                </a:solidFill>
                <a:latin typeface="Arial"/>
                <a:ea typeface="Arial"/>
                <a:cs typeface="Arial"/>
              </a:rPr>
              <a:t>Problem worth solving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3DD558-24FD-467C-9C71-D14C8771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2956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AAEBDD-BD3E-4FB4-AD17-D060E389F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295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2EB486-B3F3-4072-8935-E6B1CB73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Operational pain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5AD699-3D89-4555-8A44-EAFAACCD9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28765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Manual planning creates extra trips and duplicated stops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Idle time and partial loads raise avoidable cost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Disruption response depends on planner intuition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C2294A-468E-4C8C-8191-9169EEDC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00250"/>
            <a:ext cx="32956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E4AD9E-3425-4971-A78F-1B9B50A5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00250"/>
            <a:ext cx="3295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90C1A6-2162-4C29-8830-0403018A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2885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Sustainability gap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4C7F97-AB63-4B54-8D56-6C00933B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24150"/>
            <a:ext cx="28765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CO2e impact appears after execution, not before approval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Fleet assumptions sit across spreadsheets and reports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Teams lack a traceable baseline for each decision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BD905C-18D5-4E4F-BCDF-9CB41F5A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32956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FDBE49-C447-4669-89BA-1C0F4830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00250"/>
            <a:ext cx="32956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86E91F-74FF-4C87-A407-D377DB47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28850"/>
            <a:ext cx="2876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Who feels 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6B9D32-0354-4929-A06F-CC0AE999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724150"/>
            <a:ext cx="28765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Dispatch planners need feasible plans quickly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Fleet managers need better utilization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Sustainability teams need auditable impact 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804E72-13C4-4A43-B40B-582C0A340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GreenDispatch AI  |  Team Token Titans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C9ADDC-BCFF-4437-BA18-F7729801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338636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75950C-0236-4BF5-9341-4319E997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GreenDispatch AI makes carbon part of dispatch planning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9E4DD4-8293-4CBC-8E97-38C695C6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The planner sees baseline, optimized, fuel-focused, distance-focused, and disruption-aware plans before approval.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09AC8-1A8D-4F0E-B1A8-9FFB32CAC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23812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A11DA2-6228-4B4A-8B95-B455F322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D3142D-9C58-4F24-ABF2-BC1FFB54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574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4F230-F4BC-4CA7-844C-31C0C6DB0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Scenario input with editable jobs and vehicles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3880DD-F9D6-4F34-97B2-E592D81D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85950"/>
            <a:ext cx="23812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A2FC9E-B216-4DF1-8CB6-2BC275B7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859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EF0FA7-CA79-4D6B-98B4-487CBC0D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574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CDD89D-685E-48E8-980B-3E96A5EE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5270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Agents evaluate demand, emissions, constraints, and alternatives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23CECF-54BD-456F-8A45-975F7315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85950"/>
            <a:ext cx="23812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6FF3C8-2B06-431A-ABE7-7493634C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859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1F696E-1CD6-41FA-A9B4-1EBE1E48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574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C159CC-7084-4691-9DBC-0205E8975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5270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Dashboard compares plans using operational and CO2e metrics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0E2B8B-1437-459E-B301-10DB670D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85950"/>
            <a:ext cx="238125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E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C9FFC3-78FC-4884-86A3-8B3EADE7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859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63D1A3-B0AA-41B7-BB1F-6EE6CD0C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0574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0A2ABA-5EE3-4609-A3BC-B35BEEB2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5270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Human planner approves or requests revision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A73316-4675-4FAA-A5FF-00A23F2F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86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Core design choice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B51CF7-7778-41DB-86A9-338960BF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952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LLM agents reason over candidate plans when an OpenAI key is present.</a:t>
            </a:r>
          </a:p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Deterministic tools calculate emissions, constraints, route metrics, and deltas.</a:t>
            </a:r>
          </a:p>
          <a:p xmlns:a="http://schemas.openxmlformats.org/drawingml/2006/main">
            <a:pPr algn="l">
              <a:defRPr sz="15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If the key is missing or the API fails, the demo still runs with local agent logic.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CDBF5D-F8AE-4FA7-B678-1DFF2BAF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GreenDispatch AI  |  Team Token Titans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994F57-1C39-4743-B142-CFAE4AB6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050557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500205-2F19-4220-8592-456CE426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The demo plan cuts distance, fuel, CO2e, and idle 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8D75A2-6FFA-4269-8AC2-56E9AF6E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Baseline versus agentic carbon-aware optimized scenario from the synthetic dataset.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E76728-89AC-4CF5-8B2E-9AC7F7D8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20764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ED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836F2E-0AB2-4999-BC8C-3E80C30FA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DD960-EB9B-4B33-BE4D-3E0EA8C6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4CFA1E-FB4E-4AEF-9F1C-817AF6AA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trips consolidated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77B2AF-892B-4E6C-A3AE-3C0651D8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38300"/>
            <a:ext cx="20764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5887E8-65B8-4010-B0C2-C3FAF71C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6383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4FD962-88ED-475C-AAAD-15799DDD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8097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53.60 km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088EF-538B-4322-AB83-6DA547FE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0505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distance avoided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D64B48-C9E2-4844-9AD3-43A029FD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38300"/>
            <a:ext cx="20764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2BE808-B9E2-4827-9484-01D6A2D3B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383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DC2C10-2B33-4078-A964-A44EDADF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8097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8.18 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FDD9AA-F2B9-4448-B1B5-BD40394D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30505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fuel saved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D8E7BD-6224-436B-8724-B77AA2A3E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638300"/>
            <a:ext cx="20764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E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B0E39E-CA5A-470B-89E7-593FAC44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6383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6DB8C3-49EC-46CC-A73D-F31B9076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09750"/>
            <a:ext cx="1695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18.50 kg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4F42E5-3C7D-4895-A1FF-B47CC786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05050"/>
            <a:ext cx="1733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CO2e avoided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D36FA0-D179-44C7-B6C5-F4007B72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638300"/>
            <a:ext cx="17526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EE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C9C91D-0C81-4A52-81DB-6ED952DC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638300"/>
            <a:ext cx="571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71FFCA-ACFD-45C2-AD5F-5B417B7D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80975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74 min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CDCCFF-8BA2-4B5B-A13C-44422F0C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305050"/>
            <a:ext cx="1409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idle time reduced</a:t>
            </a:r>
          </a:p>
        </p:txBody>
      </p:sp>
      <p:graphicFrame>
        <p:nvGraphicFramePr>
          <p:cNvPr id="49" name="Chart"/>
          <p:cNvGraphicFramePr/>
          <p:nvPr/>
        </p:nvGraphicFramePr>
        <p:xfrm>
          <a:off xmlns:a="http://schemas.openxmlformats.org/drawingml/2006/main" x="1143000" y="3257550"/>
          <a:ext xmlns:a="http://schemas.openxmlformats.org/drawingml/2006/main" cx="9334500" cy="2619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dad4b5472514011"/>
          </a:graphicData>
        </a:graphic>
      </p:graphicFrame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779BE7-FCD8-4AF1-B6C2-5FE96259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8170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Reduction percentage by metric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C95B14-4F82-4B37-8539-C96B5A65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GreenDispatch AI  |  Team Token Titans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817969-EC2C-4735-9DA8-84652448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484224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78B220-BD3D-4133-8728-61269B68F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Agentic workflow with auditable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2CB6DC-B61C-4084-AFDB-BD1E9D802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The system separates reasoning from calculations so judges can inspect every decision.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D1E60C-5E59-40FB-9E16-973E9A40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71650"/>
            <a:ext cx="35433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052E16"/>
          </a:solidFill>
          <a:ln xmlns:a="http://schemas.openxmlformats.org/drawingml/2006/main" w="0">
            <a:solidFill>
              <a:srgbClr val="052E1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97D22E-3529-4EDD-99B6-67EE7817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002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Orchestrator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3528CC-D0AB-49B9-B407-030AC4DD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1752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9C5528-9F17-45F0-B5EE-C6B0A066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1752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A738E5-5135-4479-ABE3-83C54B86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480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Forecasting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E0720A-995B-45CA-9C57-7CA2050E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4810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Demand and priority pressure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3F46EC-7CC4-4F78-AAE2-FFD017B7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1752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BAA247-AA4E-47BC-9B8D-43C7644A5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1752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116E2F-F5CC-4F24-A535-EEB9A1DAD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480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Carbon Intelligence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86A5EC-7F37-4E58-AD87-28E8E5A9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84810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Fuel, energy, CO2e assumptions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BE23F6-27E5-44FF-A451-83738C6B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57550"/>
            <a:ext cx="1752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B54784-9EAF-4D05-91A2-0C33A7C9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57550"/>
            <a:ext cx="1752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232B1F-4430-4261-BE03-DED658AD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4480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Optimization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4ECDEA-A636-4BAC-9DC9-3BED64DE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4810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Candidate route evaluation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62085B-00D1-46CB-AF76-274C736B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57550"/>
            <a:ext cx="1752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165430-717C-4FEA-8026-6629F8695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57550"/>
            <a:ext cx="1752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CC24AB-450C-4F8C-A352-F8AD06A7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480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Constraint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6FE417-BCA6-4D00-B8D3-445D2169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4810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Capacity, SLA, availability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BA0E07-8504-49CE-87CC-574BAC00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57550"/>
            <a:ext cx="1752600" cy="1352550"/>
          </a:xfrm>
          <a:prstGeom xmlns:a="http://schemas.openxmlformats.org/drawingml/2006/main" prst="roundRect">
            <a:avLst>
              <a:gd name="adj" fmla="val 8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F073F3-6762-4C87-B45B-1B908A7B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57550"/>
            <a:ext cx="1752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0">
            <a:solidFill>
              <a:srgbClr val="05966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01DBE8-FDFE-4FBA-A02A-012F88067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48050"/>
            <a:ext cx="1485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Monitoring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96D79A4-B90F-41A3-B0B6-DC223A4C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4810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Disruption and replanning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90F102-6FAB-49DF-BC7C-12A9D0A1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257800"/>
            <a:ext cx="80391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BEA664-0E3C-4AE7-A6AC-362D1554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410200"/>
            <a:ext cx="7467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Deterministic calculators handle emissions, metrics, constraints, comparison, and plan persistence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EB3464-270C-4B03-AF34-EE013827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GreenDispatch AI  |  Team Token Titans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EBE3B2-35DC-4FBE-AFA3-366BB49C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5070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041C7E-DA23-47E1-B0B6-BC9CA9B7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Hybrid execution keeps the demo robust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81F12A-E8F9-4A31-AA3C-9DC524F0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Live LLM agents run when credentials exist; deterministic fallback keeps the app runnable for judges.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5356AD-0A43-422B-A539-B498A1F5E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0482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2D4B16-EFB7-4306-9755-ABAA615F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04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8A8A98-1CD5-417D-951F-3BF43629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19300"/>
            <a:ext cx="462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Live OpenAI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852628-DF03-4492-B1D4-0C7B4567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46291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Triggered from Run optimization when OPENAI_API_KEY is present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Reusable prompt evaluates jobs, vehicles, plans, metrics, and constraints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Dashboard records input, output, and total tokens from API usage metadata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1EECEF-B165-4DD7-91E4-7450FC5A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90700"/>
            <a:ext cx="50482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C8D773-CAF9-4460-9D3B-D1CF3880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790700"/>
            <a:ext cx="5048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19AD65-23E7-41B9-843B-4C9A6DF4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19300"/>
            <a:ext cx="4629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Fallback 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140C27-A90B-48B4-8BB3-8CF9633C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14600"/>
            <a:ext cx="4629150" cy="222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Runs without private systems or external credentials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Keeps all emissions and constraint calculations local and testable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Reports zero actual LLM tokens and explains the fallback reason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3C4DCB-9DEB-403D-BDA4-A9D5F6D0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14950"/>
            <a:ext cx="842010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FDE68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212573-A316-4F4D-87D0-BBB1A09B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467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8350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8350F"/>
                </a:solidFill>
                <a:latin typeface="Arial"/>
                <a:ea typeface="Arial"/>
                <a:cs typeface="Arial"/>
              </a:rPr>
              <a:t>The model reasons. The calculators prove.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626320-6B2B-4529-8368-E91E0A335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GreenDispatch AI  |  Team Token Titans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EC4372-4775-4409-A661-9E6071D9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240607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F22157-813B-40BE-B4F8-781EA405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The demo shows the agent running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8E7640-48FA-41CA-868F-BB03716A4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A 3 to 5 minute walkthrough can cover baseline, optimization, trace, approval, disruption, and summary.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2C0A5E-B4A7-47C6-A62B-A4257FBA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1619250" cy="266700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B6DAD4-2A06-4BA7-87E7-71AA9108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14550"/>
            <a:ext cx="6667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B19026-B8A0-41E2-8A20-30BB1E06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1812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043AD0-F270-401B-9779-E97D64C3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6E857C-DC0B-4EE4-BF2C-157F65DC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1276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Show 6 manual-style routes and assumptions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7D48B-94FE-4DB6-B3A6-9043B0AE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885950"/>
            <a:ext cx="1619250" cy="266700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9226D2-092A-4B9C-B926-135D12C0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114550"/>
            <a:ext cx="6667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8D1C28-FFEE-4B3C-83BE-9631257F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812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C0429A-D7FC-47C5-9126-B84123A3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432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Optimization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95BBC1-5021-40B8-9738-B2E3FBEA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257550"/>
            <a:ext cx="1276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Run selected scenario and compare impact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4E56EE-58E7-47FD-8980-79D10EB3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85950"/>
            <a:ext cx="1619250" cy="266700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B5F4DF-9ECE-4ED1-B8FA-1A9AB874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14550"/>
            <a:ext cx="6667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617C0D-54FF-4575-A0CF-EEFFAE3F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812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A05A6A-68B4-4F31-95A8-8C9D0753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432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Trace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2FB39F-0A76-4803-983F-69DDD14F1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57550"/>
            <a:ext cx="1276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Inspect each agent output and tool used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5E4395-6E26-43B1-85AE-D6B12DC6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85950"/>
            <a:ext cx="1619250" cy="266700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5F224F-A67E-4DAF-92F7-A5B83CBC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14550"/>
            <a:ext cx="6667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7AD0CE-305F-427D-B6D3-3E01F958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1812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102551-25E4-44A3-B032-F9920925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432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Approval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255078-01E0-4D02-A0B2-36D57C80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57550"/>
            <a:ext cx="1276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Human planner approves or requests revision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9E9656-F5F7-4CAB-B218-9D24DF51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85950"/>
            <a:ext cx="1619250" cy="266700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2076C3-3198-404D-B156-33A6B0C6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114550"/>
            <a:ext cx="6667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2714FD-8A7E-4906-BCAF-7370CF65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812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32EC51-B6D8-49E1-880B-8C8DE602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432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Disruption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D0A9F0-AF03-4698-A588-0C626DFA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57550"/>
            <a:ext cx="1276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Vehicle unavailable event triggers reoptimization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FEAA52-F91B-4B9A-B9D5-5E72FC11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885950"/>
            <a:ext cx="1619250" cy="266700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BD9E9C-DB25-4152-940E-A47ECE13C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114550"/>
            <a:ext cx="666750" cy="400050"/>
          </a:xfrm>
          <a:prstGeom xmlns:a="http://schemas.openxmlformats.org/drawingml/2006/main" prst="roundRect">
            <a:avLst>
              <a:gd name="adj" fmla="val 3809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0">
            <a:solidFill>
              <a:srgbClr val="DCFCE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A7623E-DFAB-4A61-BE4F-4D865C62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1812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08EAE6-58A0-4F16-8010-D41782C50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74320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Summary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E0903C-E719-4C88-8E9A-BBA8FDA9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57550"/>
            <a:ext cx="12763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Download decision summary and audit trail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B7D9D7-BA8C-4632-966A-73BDD042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19700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Judges see working software, not only slides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C613EC-C43B-4E2F-B8D9-15DD367B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GreenDispatch AI  |  Team Token Titans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A4D0995-AEE3-4304-BB8F-DCE43FB1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035462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97935A-E2F9-4ADB-85B4-ED947D24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Built for hackathon-safe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AC7960-69FD-4C6F-80A0-8A81EE5AE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The PoC keeps data synthetic, decisions auditable, and outputs inspectable.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7AC7DD-C0BE-46F6-8FE3-628D8788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327660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6A9F4-996C-4A1D-B34F-164CC592A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3276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0215FE-3D2E-4801-BB4C-ADE3C7920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812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Safe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0DCF7B-9C47-43A8-ADCD-E775F4E5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28575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Synthetic jobs, vehicles, locations, emissions factors, and route plans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No customer code, confidential data, personal data, or client branding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Source dataset stays read-only during optimization runs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E2A888-96F4-4C86-A76C-DFF83654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52600"/>
            <a:ext cx="327660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A81279-143C-4422-8DEA-8DA5C5831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752600"/>
            <a:ext cx="3276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526CEA-B0DA-462F-9BFC-F29C7558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9812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Audit trail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D09F3A-FB67-420E-B9B9-DA551603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76500"/>
            <a:ext cx="28575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Every run writes structured JSON artifacts under outputs/runs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Agent trace records role, tool used, output, rationale, and status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Approval audit captures approve, reject, or revision request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48D48A-F427-46B2-AA56-06AA1076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3276600" cy="32766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0386C6-09C4-45A6-A30D-7A817130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52600"/>
            <a:ext cx="3276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8F3EBC-D031-4041-9798-C1E4FEBA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812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Guardrails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267B5D-86F7-486F-8890-B1E26697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76500"/>
            <a:ext cx="28575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Human approval required before final dispatch recommendation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Capacity, SLA, availability, priority, and disruption constraints are visible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Known limitations are declared in README and assumptions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E41214-7989-4A68-B38B-802463689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GreenDispatch AI  |  Team Token Titans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F42432-5641-4977-B8C2-FEC9A824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430976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B4E626-B00C-4B3C-A815-1D78F1B5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Roadmap from PoC to production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036507-7E8D-457C-BCC5-244E5283E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475569"/>
                </a:solidFill>
                <a:latin typeface="Arial"/>
                <a:ea typeface="Arial"/>
                <a:cs typeface="Arial"/>
              </a:rPr>
              <a:t>The current version proves the decision workflow; the next steps connect it to real operations.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AC7316-2F91-4514-892B-8C0F2913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31432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17016F-4CFE-4606-AFB2-2C94377E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DDB6A8-C660-4787-ADAC-7AC20554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383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Next sprint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7D26AE-CEFD-45A5-B140-F53B8942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33650"/>
            <a:ext cx="27241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Add map-provider route distance refresh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Import telematics fuel and idle data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Save scenario versions for demo replay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6CBBA8-2C0B-457D-BB1A-B9872E14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09750"/>
            <a:ext cx="31432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5FF56B-DAED-4056-A256-082B5394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097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313E30-87CB-4633-B800-3551EACC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0383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Pilot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1B89DE-BD90-4965-94DF-AE5A3779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533650"/>
            <a:ext cx="27241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Connect dispatch or field-service systems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Add OR-Tools route solving after heuristic workflow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Compare against real historical dispatch plans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090CBF-6C62-482A-98AF-AB035831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143250" cy="295275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F2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3B64C6-C580-41CE-A2C2-4D68E27C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09750"/>
            <a:ext cx="31432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solidFill>
              <a:srgbClr val="0284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DF53CE-5899-4A63-8505-82942ECF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3835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Enterprise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B9686C-FD4F-46BC-BA22-DA643F47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33650"/>
            <a:ext cx="272415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Role-based approvals and audit integration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Regional emission factor libraries</a:t>
            </a:r>
          </a:p>
          <a:p xmlns:a="http://schemas.openxmlformats.org/drawingml/2006/main">
            <a:pPr algn="l">
              <a:defRPr sz="12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Cumulative sustainability reporting dataset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2662DD-4B58-4E65-ACE0-0686B0FFD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19700"/>
            <a:ext cx="979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52E1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52E16"/>
                </a:solidFill>
                <a:latin typeface="Arial"/>
                <a:ea typeface="Arial"/>
                <a:cs typeface="Arial"/>
              </a:rPr>
              <a:t>The product path is clear: replace assumptions with measured fleet data while preserving traceability.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06A5AA-87DB-4A7E-9245-0272013C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GreenDispatch AI  |  Team Token Titans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29A08B-42AB-41ED-9045-056066E2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033284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2E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61E6A4-56E8-48CD-8C78-7D7A158D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GreenDispatch AI fits the judging criteria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A1A3E4-4238-464D-9564-3A92560A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28750"/>
            <a:ext cx="103632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64E3B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0B811B-3B40-4A2A-9D01-3858DFC2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525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1FA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1FAE5"/>
                </a:solidFill>
                <a:latin typeface="Arial"/>
                <a:ea typeface="Arial"/>
                <a:cs typeface="Arial"/>
              </a:rPr>
              <a:t>Sustainability impact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D75E2-6DCF-4248-8DA4-3E302983A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525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CO2e, distance, fuel, idle time, and planning time deltas are quantified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A17923-37B1-41C8-83BD-00F47061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103632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64E3B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77DA5C-1DFB-4D6D-997C-F4013CCC0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336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1FA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1FAE5"/>
                </a:solidFill>
                <a:latin typeface="Arial"/>
                <a:ea typeface="Arial"/>
                <a:cs typeface="Arial"/>
              </a:rPr>
              <a:t>Agentic depth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3596F8-D3E8-44B1-ADF7-AFE80A0A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336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Orchestrator coordinates specialized agents, tools, constraints, and feedback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7E5E57-3D03-4B8A-B7E4-47C9A5BC7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103632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64E3B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513EBB-1786-40A8-952F-307E9582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146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1FA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1FAE5"/>
                </a:solidFill>
                <a:latin typeface="Arial"/>
                <a:ea typeface="Arial"/>
                <a:cs typeface="Arial"/>
              </a:rPr>
              <a:t>Agent sustainability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B0909D-4EF4-4CDA-85CF-13D387C9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146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Live token usage is measured; fallback records zero actual LLM tokens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900AA3-E85E-4A37-A80A-A7EEEC77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103632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64E3B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CF742D-C639-4CE7-BC30-BFD93581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957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1FA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1FAE5"/>
                </a:solidFill>
                <a:latin typeface="Arial"/>
                <a:ea typeface="Arial"/>
                <a:cs typeface="Arial"/>
              </a:rPr>
              <a:t>Demo communication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9913A7-72CE-4D2E-BFFC-999569C0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9572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Streamlit app shows the agent running in a 3 to 5 minute flow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C95D23-144D-430E-BAC4-EC1993A6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1036320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64E3B"/>
          </a:solidFill>
          <a:ln xmlns:a="http://schemas.openxmlformats.org/drawingml/2006/main" w="9525">
            <a:solidFill>
              <a:srgbClr val="10B98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BEDAD5-703E-475D-BDC5-F98D4681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767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1FAE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1FAE5"/>
                </a:solidFill>
                <a:latin typeface="Arial"/>
                <a:ea typeface="Arial"/>
                <a:cs typeface="Arial"/>
              </a:rPr>
              <a:t>Innovation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F872DF-4D5C-49F8-AB96-E31589D5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767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Carbon-aware dispatch moves sustainability into the operational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2DEA2E-C0F2-4791-9E63-EB6C91C8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638800"/>
            <a:ext cx="10020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DE68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DE68A"/>
                </a:solidFill>
                <a:latin typeface="Arial"/>
                <a:ea typeface="Arial"/>
                <a:cs typeface="Arial"/>
              </a:rPr>
              <a:t>GreenDispatch AI makes sustainability measurable at the moment dispatch decisions are made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8C34C9-14AF-4C0C-B795-50F807FF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621030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1FAE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1FAE5"/>
                </a:solidFill>
                <a:latin typeface="Arial"/>
                <a:ea typeface="Arial"/>
                <a:cs typeface="Arial"/>
              </a:rPr>
              <a:t>Team Token Titans</a:t>
            </a:r>
          </a:p>
        </p:txBody>
      </p:sp>
    </p:spTree>
    <p:extLst>
      <p:ext uri="{BB962C8B-B14F-4D97-AF65-F5344CB8AC3E}">
        <p14:creationId xmlns:p14="http://schemas.microsoft.com/office/powerpoint/2010/main" val="9621172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2026-10-02T12:08:30.9590000Z</dcterms:created>
  <dcterms:modified xsi:type="dcterms:W3CDTF">2026-10-02T12:08:30.9600000Z</dcterms:modified>
</coreProperties>
</file>